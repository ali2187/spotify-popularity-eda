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DB954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619259"/>
            <a:ext cx="2857500" cy="19049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29100" y="1203917"/>
            <a:ext cx="46291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91414"/>
                </a:solidFill>
              </a:rPr>
              <a:t>Spotify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91414"/>
                </a:solidFill>
              </a:rPr>
              <a:t>Popularity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91414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91414"/>
                </a:solidFill>
              </a:rPr>
              <a:t>Prediction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4229100" y="2855519"/>
            <a:ext cx="46291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spc="1" kern="0" dirty="0">
                <a:solidFill>
                  <a:srgbClr val="191414"/>
                </a:solidFill>
              </a:rPr>
              <a:t>Project Summary &amp; Model Analysis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4229100" y="3596683"/>
            <a:ext cx="3571875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Analyzing 85,000 tracks (2015-2025) to identify the key drivers behind musical success using machine learning.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91414"/>
                </a:solidFill>
              </a:rPr>
              <a:t>Dataset &amp; Features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73398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1DB954"/>
                </a:solidFill>
              </a:rPr>
              <a:t>Source &amp; Scope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700213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The dataset was sourced from Kaggle, encompassing a wide range of attributes for tracks released between 2015 and 2025.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593181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1DB954"/>
                </a:solidFill>
              </a:rPr>
              <a:t>Key Attributes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819995"/>
            <a:ext cx="3429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Analysis includes core audio features (danceability, energy, loudness), metadata (genre, label), and engagement metrics (stream count).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3855839"/>
            <a:ext cx="1708277" cy="714375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9" name="Text 6"/>
          <p:cNvSpPr/>
          <p:nvPr/>
        </p:nvSpPr>
        <p:spPr>
          <a:xfrm>
            <a:off x="750094" y="3998714"/>
            <a:ext cx="135109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5F5F5"/>
                </a:solidFill>
              </a:rPr>
              <a:t>85,000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750094" y="4348758"/>
            <a:ext cx="13510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5F5"/>
                </a:solidFill>
              </a:rPr>
              <a:t>Total Tracks Analyzed</a:t>
            </a:r>
            <a:endParaRPr lang="en-US" sz="727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473398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91414"/>
                </a:solidFill>
              </a:rPr>
              <a:t>Data Preprocessing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0536"/>
            <a:ext cx="17602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DB954"/>
                </a:solidFill>
              </a:rPr>
              <a:t>01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637705"/>
            <a:ext cx="1760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1414"/>
                </a:solidFill>
              </a:rPr>
              <a:t>Cleaning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939528"/>
            <a:ext cx="17602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91414"/>
                </a:solidFill>
              </a:rPr>
              <a:t>Removal of missing values and duplicate entries to maintain dataset integrity.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2651754" y="1430536"/>
            <a:ext cx="17602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DB954"/>
                </a:solidFill>
              </a:rPr>
              <a:t>02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651754" y="1637705"/>
            <a:ext cx="1760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1414"/>
                </a:solidFill>
              </a:rPr>
              <a:t>Outliers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2651754" y="1939528"/>
            <a:ext cx="17602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91414"/>
                </a:solidFill>
              </a:rPr>
              <a:t>Interquartile Range (IQR) method used to cap extreme values in numerical columns.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732009" y="1430536"/>
            <a:ext cx="17602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DB954"/>
                </a:solidFill>
              </a:rPr>
              <a:t>03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732009" y="1637705"/>
            <a:ext cx="1760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1414"/>
                </a:solidFill>
              </a:rPr>
              <a:t>Encoding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732009" y="1939528"/>
            <a:ext cx="17602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91414"/>
                </a:solidFill>
              </a:rPr>
              <a:t>Label and One-Hot Encoding for categorical variables like genre and country.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812263" y="1430536"/>
            <a:ext cx="17602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DB954"/>
                </a:solidFill>
              </a:rPr>
              <a:t>04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812263" y="1637705"/>
            <a:ext cx="17602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91414"/>
                </a:solidFill>
              </a:rPr>
              <a:t>Scaling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812263" y="1939528"/>
            <a:ext cx="17602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91414"/>
                </a:solidFill>
              </a:rPr>
              <a:t>StandardScaler applied to normalize features for model consistency.</a:t>
            </a:r>
            <a:endParaRPr lang="en-US" sz="834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848180"/>
            <a:ext cx="7143750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91414"/>
                </a:solidFill>
              </a:rPr>
              <a:t>Model Selection &amp; Justification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73398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DB954"/>
                </a:solidFill>
              </a:rPr>
              <a:t>Linear Regression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814513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Selected for its simplicity, computational efficiency, and high level of interpretability. It serves as a reliable baseline for predicting popularity scores based on linear feature relationships.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958852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DB954"/>
                </a:solidFill>
              </a:rPr>
              <a:t>Random Forest Regressor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299966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Chosen for its ability to capture complex, non-linear relationships within the data. It provides robust performance and is instrumental in assessing the relative importance of various features.</a:t>
            </a:r>
            <a:endParaRPr lang="en-US" sz="94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473398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91414"/>
                </a:solidFill>
              </a:rPr>
              <a:t>Results &amp; Evaluation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87648"/>
            <a:ext cx="7143750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191414"/>
                </a:solidFill>
              </a:rPr>
              <a:t>Model performance was rigorously evaluated using three primary metrics. While both models demonstrated comparable predictive capabilities, Linear Regression consistently outperformed the Random Forest Regressor across all benchmarks.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571500" y="2156324"/>
            <a:ext cx="8001000" cy="2171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156324"/>
            <a:ext cx="2400300" cy="428625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156324"/>
            <a:ext cx="2400300" cy="428625"/>
          </a:xfrm>
          <a:prstGeom prst="rect">
            <a:avLst/>
          </a:prstGeom>
          <a:noFill/>
          <a:ln/>
        </p:spPr>
        <p:txBody>
          <a:bodyPr wrap="square" lIns="25514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Metric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971800" y="2156324"/>
            <a:ext cx="2365418" cy="428625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9" name="Text 6"/>
          <p:cNvSpPr/>
          <p:nvPr/>
        </p:nvSpPr>
        <p:spPr>
          <a:xfrm>
            <a:off x="2971800" y="2156324"/>
            <a:ext cx="2365418" cy="428625"/>
          </a:xfrm>
          <a:prstGeom prst="rect">
            <a:avLst/>
          </a:prstGeom>
          <a:noFill/>
          <a:ln/>
        </p:spPr>
        <p:txBody>
          <a:bodyPr wrap="square" lIns="25514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Linear Regression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337218" y="2156324"/>
            <a:ext cx="3235282" cy="428625"/>
          </a:xfrm>
          <a:prstGeom prst="rect">
            <a:avLst/>
          </a:prstGeom>
          <a:solidFill>
            <a:srgbClr val="191414"/>
          </a:solidFill>
          <a:ln/>
        </p:spPr>
      </p:sp>
      <p:sp>
        <p:nvSpPr>
          <p:cNvPr id="11" name="Text 8"/>
          <p:cNvSpPr/>
          <p:nvPr/>
        </p:nvSpPr>
        <p:spPr>
          <a:xfrm>
            <a:off x="5337218" y="2156324"/>
            <a:ext cx="3235282" cy="428625"/>
          </a:xfrm>
          <a:prstGeom prst="rect">
            <a:avLst/>
          </a:prstGeom>
          <a:noFill/>
          <a:ln/>
        </p:spPr>
        <p:txBody>
          <a:bodyPr wrap="square" lIns="25514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5F5F5"/>
                </a:solidFill>
              </a:rPr>
              <a:t>Random Forest Regressor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584949"/>
            <a:ext cx="2400300" cy="514350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R² Score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2971800" y="2584949"/>
            <a:ext cx="2365418" cy="514350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DB954"/>
                </a:solidFill>
              </a:rPr>
              <a:t>0.4497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337218" y="2584949"/>
            <a:ext cx="3235282" cy="514350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91414"/>
                </a:solidFill>
              </a:rPr>
              <a:t>0.4434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571500" y="3099299"/>
            <a:ext cx="2400300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Mean Absolute Error (MAE)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971800" y="3099299"/>
            <a:ext cx="2365418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DB954"/>
                </a:solidFill>
              </a:rPr>
              <a:t>0.5826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337218" y="3099299"/>
            <a:ext cx="3235282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91414"/>
                </a:solidFill>
              </a:rPr>
              <a:t>0.5856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71500" y="3710090"/>
            <a:ext cx="2400300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Root Mean Squared Error (RMSE)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2971800" y="3710090"/>
            <a:ext cx="2365418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DB954"/>
                </a:solidFill>
              </a:rPr>
              <a:t>0.7353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5337218" y="3710090"/>
            <a:ext cx="3235282" cy="610791"/>
          </a:xfrm>
          <a:prstGeom prst="rect">
            <a:avLst/>
          </a:prstGeom>
          <a:noFill/>
          <a:ln/>
        </p:spPr>
        <p:txBody>
          <a:bodyPr wrap="square" lIns="255143" tIns="153035" rIns="0" bIns="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91414"/>
                </a:solidFill>
              </a:rPr>
              <a:t>0.7396</a:t>
            </a:r>
            <a:endParaRPr lang="en-US" sz="1269" dirty="0"/>
          </a:p>
        </p:txBody>
      </p:sp>
      <p:sp>
        <p:nvSpPr>
          <p:cNvPr id="21" name="Shape 18"/>
          <p:cNvSpPr/>
          <p:nvPr/>
        </p:nvSpPr>
        <p:spPr>
          <a:xfrm>
            <a:off x="571500" y="4470899"/>
            <a:ext cx="5585938" cy="28932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2" name="Text 19"/>
          <p:cNvSpPr/>
          <p:nvPr/>
        </p:nvSpPr>
        <p:spPr>
          <a:xfrm>
            <a:off x="785813" y="4585199"/>
            <a:ext cx="53716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91414"/>
                </a:solidFill>
              </a:rPr>
              <a:t>Key Insight: Linear Regression provides superior accuracy and efficiency.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91414"/>
                </a:solidFill>
              </a:rPr>
              <a:t>Key Findings: Feature Importance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04652"/>
            <a:ext cx="602335" cy="17145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504652"/>
            <a:ext cx="602335" cy="171450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PRIMARY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280992" y="1473398"/>
            <a:ext cx="27517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Dominance of Stream Count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778794"/>
            <a:ext cx="4286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The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DB954"/>
                </a:solidFill>
              </a:rPr>
              <a:t>stream_count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 feature is the most significant predictor, indicating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that popularity is heavily driven by existing user engagement and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reach.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2674441"/>
            <a:ext cx="746075" cy="17145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674441"/>
            <a:ext cx="746075" cy="171450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SECONDARY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424732" y="2643188"/>
            <a:ext cx="20334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Technical Attributes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2948583"/>
            <a:ext cx="4286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Features like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DB954"/>
                </a:solidFill>
              </a:rPr>
              <a:t>duration, tempo, and loudness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 contribute moderately,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suggesting that production quality and track length play a role in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listener retention.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3844230"/>
            <a:ext cx="778362" cy="17145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844230"/>
            <a:ext cx="778362" cy="171450"/>
          </a:xfrm>
          <a:prstGeom prst="rect">
            <a:avLst/>
          </a:prstGeom>
          <a:noFill/>
          <a:ln/>
        </p:spPr>
        <p:txBody>
          <a:bodyPr wrap="non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F5F5"/>
                </a:solidFill>
              </a:rPr>
              <a:t>LOW IMPACT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457018" y="3812977"/>
            <a:ext cx="214639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91414"/>
                </a:solidFill>
              </a:rPr>
              <a:t>Musical Core Features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71500" y="4118372"/>
            <a:ext cx="42862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Surprisingly,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DB954"/>
                </a:solidFill>
              </a:rPr>
              <a:t>danceability and energy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 showed the least importance,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implying that popularity may be more influenced by external factors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91414"/>
                </a:solidFill>
              </a:rPr>
              <a:t>than by specific musical vibes.</a:t>
            </a:r>
            <a:endParaRPr lang="en-US" sz="942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956" y="1473398"/>
            <a:ext cx="321468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8644"/>
            <a:ext cx="44577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91414"/>
                </a:solidFill>
              </a:rPr>
              <a:t>Conclusions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30523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1DB954"/>
                </a:solidFill>
              </a:rPr>
              <a:t>Model Preference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1543050"/>
            <a:ext cx="42862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Linear Regression is the preferred model due to its superior performance and lower computational requirements compared to Random Forest.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1DB954"/>
                </a:solidFill>
              </a:rPr>
              <a:t>Predictive Power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2612827"/>
            <a:ext cx="42862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The models explain approximately 45% of the variance in song popularity, indicating that core features capture significant trends but not the full picture.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770114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1DB954"/>
                </a:solidFill>
              </a:rPr>
              <a:t>Future Research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3982641"/>
            <a:ext cx="42862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91414"/>
                </a:solidFill>
              </a:rPr>
              <a:t>Success is likely driven by external factors such as artist reputation, marketing strategies, and social media trends. Integrating these sources is key to enhancing accuracy.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DB95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63" y="785813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2025-12-26T19:18:45Z</dcterms:created>
  <dcterms:modified xsi:type="dcterms:W3CDTF">2025-12-26T19:18:45Z</dcterms:modified>
</cp:coreProperties>
</file>